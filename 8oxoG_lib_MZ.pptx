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5C66F-111E-2BEB-4E12-A46077734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06AEE4-58DE-03B8-CF96-76DF07BBF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B48544-BA5D-671B-98FB-3264AF90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8B5316-1F06-ECB3-1423-CBDC040D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D91798-F2D2-F8F7-5B3B-516B7F3B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96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212D1-7543-8B8F-81F9-7CC48CBF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584F5B-B5A1-C6A0-C327-9389EB31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D7FC47-F358-FAFF-C52A-5FDB39AE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BF6266-FA75-F089-4FBB-FCC5CCA4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911EC9-64F1-DA8B-4E12-7D049CB4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6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4FCAF-C3B9-220D-2E6F-A8B1DC4F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C6B0C2-54BB-F71F-A18A-C0B193788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CA0487-9D08-B339-D7F9-32F09824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2455E5-2E2A-9DF1-555D-237A3203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FA2946-6CB4-C800-24D2-774E53F5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87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3C350-873D-0E50-A63C-19CF6D774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1EEA29-33DC-53E3-E0AA-37942CCA5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0F56BE-8D93-B6C7-FC5E-240600309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D8719A-12F9-F7C5-AD43-0F2E1E23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9AA5F2-7769-BAED-84C0-3CA8B985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6AE31E-BCD3-0522-2151-2D3EF77F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7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429F2-A683-94B7-54AC-175149D5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184C70-D29C-C926-AC7E-83776EFA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A8AA9A-0641-EE42-8779-230C86DA3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C3E5C1-B37F-E546-074D-64001E9D9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675416C-5108-5F52-4C28-B61349F4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015B80-6FCA-5172-A694-017B7E0A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71D288-72C1-ADD6-97D6-80B01744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F21A81-C530-E31F-02BF-BA453FFB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26F89-C6A7-DF9F-B8B6-9037A4F4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79CEDA-1D2F-F76C-5F50-5321E3E3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527DB79-3BDA-3DB1-23C9-B973F6021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DD76DA-BDB0-56C4-F198-3368A1BD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40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0D8382-137F-0DD6-1761-D3779A66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93D2C8-75DB-E616-9ED8-235B912E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2EB66A-6F42-439D-85D8-FF49AAA6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6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B76D1-FC9B-47F1-1AA0-832DD490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B8F8E2-483A-6690-FEEE-528CEFE36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85AAD9-99C0-0A2D-2C48-28E98F286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A9C63C-7D16-9A61-CA7D-8BCB9089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9DB501-0F3F-2681-C5F0-051F9555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A5958F-64B5-C37B-EBD5-F59B4127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93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F0654-7FB0-5810-19A3-A40136E1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A491D6-5DCD-DD03-7055-52AD4CF6E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6F42B6-F1D2-2F1F-2D10-462B5C035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A21829-5E20-E4F5-0811-26564BD90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E17518-EE62-F7FA-5219-E7ECFBFF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1FC9F0-A58C-5D43-9D8C-347567C7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67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245B4B-94CE-F7CA-07D3-CDECF8E6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2DAC68-1E6E-B0A6-F0F6-0606DEADA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172ECB-ED94-CB2B-61F3-24BA38F6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32A96B-83F3-D25B-06AB-A6E670E5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22B087-A1DF-196F-4B97-F3F52E02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2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F9802A-1AB5-CDC6-3231-CA4B52B63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9549F4-04DF-EF48-91F3-07DD09745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D24046-D87D-1A91-9981-831F1A27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EFBED-A788-4414-4C56-C20881FF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4CE3AD-F2E1-877E-421D-58BCF33D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98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7CCAA-9407-E72E-FCDC-1E876C41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00E509-2A2B-0357-7560-47D4E462E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98ADC-F832-CEF0-3E03-1B971C2B1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E6572-8EAB-4831-A603-222EA3843E58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6DE323-98B5-3071-9910-0362F3B30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F7B767-2C3E-316A-DC57-EB6729079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09D81-36F8-46F7-A922-4EA602CF5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95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63E2554-A6BB-D053-93EE-FD14B7F51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38" y="149924"/>
            <a:ext cx="3892062" cy="3224594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06FF74B-EBA5-A6DE-D9F7-5E076D024BB3}"/>
              </a:ext>
            </a:extLst>
          </p:cNvPr>
          <p:cNvGrpSpPr/>
          <p:nvPr/>
        </p:nvGrpSpPr>
        <p:grpSpPr>
          <a:xfrm>
            <a:off x="709189" y="3048561"/>
            <a:ext cx="11033156" cy="954880"/>
            <a:chOff x="709189" y="2210559"/>
            <a:chExt cx="11033156" cy="9548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9288C3-6B38-AD4A-9873-8FC1C4307EDC}"/>
                </a:ext>
              </a:extLst>
            </p:cNvPr>
            <p:cNvSpPr txBox="1"/>
            <p:nvPr/>
          </p:nvSpPr>
          <p:spPr>
            <a:xfrm>
              <a:off x="709189" y="2426390"/>
              <a:ext cx="110331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5’-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GATCAGTCCGATATC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TCGACATGCTAGTGC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GCTATCGGATACGTC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ATGACTGCC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                                           3’-</a:t>
              </a:r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TACTGACGG</a:t>
              </a:r>
              <a:endParaRPr lang="ru-RU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Дуга 5">
              <a:extLst>
                <a:ext uri="{FF2B5EF4-FFF2-40B4-BE49-F238E27FC236}">
                  <a16:creationId xmlns:a16="http://schemas.microsoft.com/office/drawing/2014/main" id="{63284F1A-E730-9C23-F49A-B177FDAF5ED4}"/>
                </a:ext>
              </a:extLst>
            </p:cNvPr>
            <p:cNvSpPr/>
            <p:nvPr/>
          </p:nvSpPr>
          <p:spPr>
            <a:xfrm rot="6667851">
              <a:off x="9931835" y="2210559"/>
              <a:ext cx="954880" cy="954880"/>
            </a:xfrm>
            <a:prstGeom prst="arc">
              <a:avLst>
                <a:gd name="adj1" fmla="val 5633151"/>
                <a:gd name="adj2" fmla="val 252669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2AC3AA-C094-CE30-4BF0-484B9386D9E1}"/>
                </a:ext>
              </a:extLst>
            </p:cNvPr>
            <p:cNvSpPr txBox="1"/>
            <p:nvPr/>
          </p:nvSpPr>
          <p:spPr>
            <a:xfrm>
              <a:off x="10691948" y="2503333"/>
              <a:ext cx="62488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US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ru-RU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530D446-722F-5EAE-3D3A-C6A9BB134B82}"/>
              </a:ext>
            </a:extLst>
          </p:cNvPr>
          <p:cNvSpPr txBox="1"/>
          <p:nvPr/>
        </p:nvSpPr>
        <p:spPr>
          <a:xfrm>
            <a:off x="866507" y="957742"/>
            <a:ext cx="7980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A1(15) – N4 – G – N4 – A2(15) – N4 – G* – N4 – A3(15) – S1(10) – L(T6) – S2(10)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D0622-185F-117E-F2A6-2681C313FA08}"/>
              </a:ext>
            </a:extLst>
          </p:cNvPr>
          <p:cNvSpPr txBox="1"/>
          <p:nvPr/>
        </p:nvSpPr>
        <p:spPr>
          <a:xfrm>
            <a:off x="709189" y="1602604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A1 (15):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GATCAGTCCGATATC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A2 (15):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TCGACATGCTAGTGC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A3 (15):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GCTATCGGATACGTC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S1 (10):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ATGACTGCCA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S2 (10):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TGGCAGTCAT</a:t>
            </a:r>
            <a:r>
              <a:rPr lang="en-US" dirty="0"/>
              <a:t> </a:t>
            </a:r>
            <a:r>
              <a:rPr lang="en-US" i="1" dirty="0"/>
              <a:t>(reverse complement of S1)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C3B88-932C-9FD1-2F72-F6DF804A6B79}"/>
              </a:ext>
            </a:extLst>
          </p:cNvPr>
          <p:cNvSpPr txBox="1"/>
          <p:nvPr/>
        </p:nvSpPr>
        <p:spPr>
          <a:xfrm>
            <a:off x="5196689" y="429887"/>
            <a:ext cx="241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Кассета с 8-оксо-</a:t>
            </a:r>
            <a:r>
              <a:rPr lang="en-US" dirty="0"/>
              <a:t>dG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5ED52B-1CCF-C1C4-62D7-7DEA63B1AD0A}"/>
              </a:ext>
            </a:extLst>
          </p:cNvPr>
          <p:cNvSpPr txBox="1"/>
          <p:nvPr/>
        </p:nvSpPr>
        <p:spPr>
          <a:xfrm>
            <a:off x="486233" y="3620235"/>
            <a:ext cx="10540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&gt;</a:t>
            </a:r>
            <a:r>
              <a:rPr lang="en-US" sz="1400" dirty="0" err="1"/>
              <a:t>Cassette_OG</a:t>
            </a:r>
            <a:endParaRPr lang="ru-RU" sz="1400" dirty="0"/>
          </a:p>
          <a:p>
            <a:r>
              <a:rPr lang="en-US" sz="1400" dirty="0" smtClean="0"/>
              <a:t>GATCAGTCCGATATCNNNNGNNNNTCGACATGCTAGTGCNNNN(8-oxo-dG)NNNNGCTATCGGATACGTCATGACTGCCATTTTTTTGGCAGTCAT</a:t>
            </a:r>
            <a:endParaRPr lang="ru-RU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99734" y="4132685"/>
            <a:ext cx="1176410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достройки библиотеки:</a:t>
            </a:r>
          </a:p>
          <a:p>
            <a:r>
              <a:rPr lang="pt-BR" dirty="0" smtClean="0"/>
              <a:t>A1(15</a:t>
            </a:r>
            <a:r>
              <a:rPr lang="pt-BR" dirty="0"/>
              <a:t>) – N4 – G – N4 – A2(15) – N4 – G* – N4 – A3(15) – S1(10) – L(T6) – S2(10</a:t>
            </a:r>
            <a:r>
              <a:rPr lang="pt-BR" dirty="0" smtClean="0"/>
              <a:t>)</a:t>
            </a:r>
            <a:r>
              <a:rPr lang="ru-RU" dirty="0" smtClean="0"/>
              <a:t> – </a:t>
            </a:r>
            <a:r>
              <a:rPr lang="en-US" dirty="0" smtClean="0"/>
              <a:t>A3C (15)</a:t>
            </a:r>
            <a:r>
              <a:rPr lang="ru-RU" dirty="0" smtClean="0"/>
              <a:t>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en-US" dirty="0" smtClean="0"/>
              <a:t>N4C-</a:t>
            </a:r>
            <a:r>
              <a:rPr lang="ru-RU" dirty="0" smtClean="0"/>
              <a:t> С-</a:t>
            </a:r>
            <a:r>
              <a:rPr lang="en-US" dirty="0" smtClean="0"/>
              <a:t> N4C – A2C - (15)</a:t>
            </a:r>
            <a:r>
              <a:rPr lang="ru-RU" dirty="0" smtClean="0"/>
              <a:t> </a:t>
            </a:r>
            <a:r>
              <a:rPr lang="en-US" dirty="0" smtClean="0"/>
              <a:t>-</a:t>
            </a:r>
            <a:r>
              <a:rPr lang="en-US" dirty="0"/>
              <a:t> </a:t>
            </a:r>
            <a:r>
              <a:rPr lang="ru-RU" dirty="0" smtClean="0"/>
              <a:t> </a:t>
            </a:r>
            <a:r>
              <a:rPr lang="en-US" dirty="0"/>
              <a:t>N4C-</a:t>
            </a:r>
            <a:r>
              <a:rPr lang="ru-RU" dirty="0"/>
              <a:t> С-</a:t>
            </a:r>
            <a:r>
              <a:rPr lang="en-US" dirty="0"/>
              <a:t> N4C – </a:t>
            </a:r>
            <a:r>
              <a:rPr lang="en-US" dirty="0" smtClean="0"/>
              <a:t>A1C </a:t>
            </a:r>
            <a:r>
              <a:rPr lang="en-US" dirty="0"/>
              <a:t>- (15</a:t>
            </a:r>
            <a:r>
              <a:rPr lang="en-US" dirty="0" smtClean="0"/>
              <a:t>)</a:t>
            </a:r>
          </a:p>
          <a:p>
            <a:r>
              <a:rPr lang="ru-RU" dirty="0" smtClean="0"/>
              <a:t> </a:t>
            </a:r>
            <a:r>
              <a:rPr lang="en-US" b="1" dirty="0" smtClean="0"/>
              <a:t>A1C </a:t>
            </a:r>
            <a:r>
              <a:rPr lang="en-US" b="1" dirty="0"/>
              <a:t>(15):</a:t>
            </a:r>
            <a:r>
              <a:rPr lang="en-US" dirty="0"/>
              <a:t> </a:t>
            </a:r>
            <a:r>
              <a:rPr lang="en-US" dirty="0" smtClean="0"/>
              <a:t>GATATCGGACTGATC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A2C </a:t>
            </a:r>
            <a:r>
              <a:rPr lang="en-US" b="1" dirty="0"/>
              <a:t>(15):</a:t>
            </a:r>
            <a:r>
              <a:rPr lang="en-US" dirty="0"/>
              <a:t> </a:t>
            </a:r>
            <a:r>
              <a:rPr lang="en-US" dirty="0" smtClean="0"/>
              <a:t>GCACTAGCATGACGA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A3C </a:t>
            </a:r>
            <a:r>
              <a:rPr lang="en-US" b="1" dirty="0"/>
              <a:t>(15):</a:t>
            </a:r>
            <a:r>
              <a:rPr lang="en-US" dirty="0"/>
              <a:t> </a:t>
            </a:r>
            <a:r>
              <a:rPr lang="en-US" dirty="0" smtClean="0"/>
              <a:t>GACGTATCCGATAGC</a:t>
            </a:r>
            <a:endParaRPr lang="ru-RU" dirty="0" smtClean="0"/>
          </a:p>
          <a:p>
            <a:endParaRPr lang="en-US" dirty="0" smtClean="0"/>
          </a:p>
          <a:p>
            <a:r>
              <a:rPr lang="en-US" sz="1400" dirty="0" smtClean="0"/>
              <a:t> &gt; </a:t>
            </a:r>
            <a:r>
              <a:rPr lang="en-US" sz="1400" dirty="0" err="1" smtClean="0"/>
              <a:t>Cassette_OG_full</a:t>
            </a:r>
            <a:endParaRPr lang="ru-RU" sz="1400" dirty="0"/>
          </a:p>
          <a:p>
            <a:r>
              <a:rPr lang="en-US" sz="1400" dirty="0" smtClean="0"/>
              <a:t>GATCAGTCCGATATCNNNNGNNNNTCGACATGCTAGTGCNNNN(8oxoG)NNNNGCTATCGGATACGTCATGACTGCCATTTTTTTGGCAGTCATGACGTATCCGATAGCNNNNCNNNNGCACTAGCATGACGNNNNCNNNNGACGTATCCGATAGC</a:t>
            </a:r>
            <a:endParaRPr lang="en-US" sz="1400" dirty="0"/>
          </a:p>
          <a:p>
            <a:endParaRPr lang="en-US" sz="1400" dirty="0"/>
          </a:p>
          <a:p>
            <a:endParaRPr lang="ru-RU" sz="1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277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8762" y="325205"/>
            <a:ext cx="1184323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 smtClean="0"/>
              <a:t>Cassette_OG_full</a:t>
            </a:r>
            <a:endParaRPr lang="ru-RU" dirty="0" smtClean="0"/>
          </a:p>
          <a:p>
            <a:endParaRPr lang="ru-RU" dirty="0"/>
          </a:p>
          <a:p>
            <a:r>
              <a:rPr lang="en-US" dirty="0" smtClean="0"/>
              <a:t>GATCAGTCCGATATCNNNNGNNNNTCGACATGCTAGTGCNNNN(8oxoG)NNNNGCTATCGGATACGTCATGACTGCCATTTTTTTGGCAGTCATGACGTATCCGATAGCNNNNCNNNNGCACTAGCATGACGNNNNCNNNNGACGTATCCGATAGC (151)</a:t>
            </a:r>
          </a:p>
          <a:p>
            <a:endParaRPr lang="en-US" dirty="0"/>
          </a:p>
          <a:p>
            <a:r>
              <a:rPr lang="ru-RU" dirty="0" smtClean="0"/>
              <a:t>Вырезаем участки: 1) с 16 по 25</a:t>
            </a:r>
          </a:p>
          <a:p>
            <a:r>
              <a:rPr lang="ru-RU" dirty="0"/>
              <a:t>	</a:t>
            </a:r>
            <a:r>
              <a:rPr lang="ru-RU" dirty="0" smtClean="0"/>
              <a:t>	 2) с 40 по 49</a:t>
            </a:r>
          </a:p>
          <a:p>
            <a:r>
              <a:rPr lang="ru-RU" dirty="0"/>
              <a:t>	</a:t>
            </a:r>
            <a:r>
              <a:rPr lang="ru-RU" dirty="0" smtClean="0"/>
              <a:t>	 3) с 104 по 113</a:t>
            </a:r>
          </a:p>
          <a:p>
            <a:r>
              <a:rPr lang="ru-RU" dirty="0"/>
              <a:t>	</a:t>
            </a:r>
            <a:r>
              <a:rPr lang="ru-RU" dirty="0" smtClean="0"/>
              <a:t>	 4) с 127 по 136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Участок 3 позволяет </a:t>
            </a:r>
            <a:r>
              <a:rPr lang="ru-RU" dirty="0" err="1" smtClean="0"/>
              <a:t>споставить</a:t>
            </a:r>
            <a:r>
              <a:rPr lang="ru-RU" dirty="0" smtClean="0"/>
              <a:t> сигнал участка 2 с реальной последовательностью. Участки 1 и 4 проверить систему дешифровки последовательности без модификации.</a:t>
            </a:r>
          </a:p>
          <a:p>
            <a:endParaRPr lang="ru-RU" dirty="0"/>
          </a:p>
          <a:p>
            <a:r>
              <a:rPr lang="ru-RU" dirty="0" smtClean="0"/>
              <a:t>Нужно подумать как вырезать! Возможно искать константные части как в </a:t>
            </a:r>
            <a:r>
              <a:rPr lang="ru-RU" dirty="0" err="1" smtClean="0"/>
              <a:t>аптамерах</a:t>
            </a:r>
            <a:r>
              <a:rPr lang="ru-RU" dirty="0" smtClean="0"/>
              <a:t> искали, но не все 15, а те, что в стык по 7?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0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7B431C1-0C54-7ADE-3969-D4D4F2001A4F}"/>
              </a:ext>
            </a:extLst>
          </p:cNvPr>
          <p:cNvGrpSpPr/>
          <p:nvPr/>
        </p:nvGrpSpPr>
        <p:grpSpPr>
          <a:xfrm>
            <a:off x="709189" y="2474120"/>
            <a:ext cx="11033156" cy="954880"/>
            <a:chOff x="709189" y="2210559"/>
            <a:chExt cx="11033156" cy="9548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2CDB8D1-DB28-E8A3-C0A3-58C3AE146125}"/>
                </a:ext>
              </a:extLst>
            </p:cNvPr>
            <p:cNvSpPr txBox="1"/>
            <p:nvPr/>
          </p:nvSpPr>
          <p:spPr>
            <a:xfrm>
              <a:off x="709189" y="2426390"/>
              <a:ext cx="110331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5’-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GATCAGTCCGATATC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TCGACATGCTAGTGC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GCTATCGGATACGTC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ATGACTGCC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                                           3’-</a:t>
              </a:r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TACTGACGG</a:t>
              </a:r>
              <a:endParaRPr lang="ru-RU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" name="Дуга 3">
              <a:extLst>
                <a:ext uri="{FF2B5EF4-FFF2-40B4-BE49-F238E27FC236}">
                  <a16:creationId xmlns:a16="http://schemas.microsoft.com/office/drawing/2014/main" id="{7B1A59FB-AA18-CA9A-6338-E143FB1BF2DF}"/>
                </a:ext>
              </a:extLst>
            </p:cNvPr>
            <p:cNvSpPr/>
            <p:nvPr/>
          </p:nvSpPr>
          <p:spPr>
            <a:xfrm rot="6667851">
              <a:off x="9931835" y="2210559"/>
              <a:ext cx="954880" cy="954880"/>
            </a:xfrm>
            <a:prstGeom prst="arc">
              <a:avLst>
                <a:gd name="adj1" fmla="val 5633151"/>
                <a:gd name="adj2" fmla="val 252669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2B3CBF-9396-4CB0-230C-EA272BF17304}"/>
                </a:ext>
              </a:extLst>
            </p:cNvPr>
            <p:cNvSpPr txBox="1"/>
            <p:nvPr/>
          </p:nvSpPr>
          <p:spPr>
            <a:xfrm>
              <a:off x="10691948" y="2503333"/>
              <a:ext cx="62488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US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ru-RU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83D8B30-E23B-6ADC-4750-B4AAFF0F553F}"/>
              </a:ext>
            </a:extLst>
          </p:cNvPr>
          <p:cNvGrpSpPr/>
          <p:nvPr/>
        </p:nvGrpSpPr>
        <p:grpSpPr>
          <a:xfrm>
            <a:off x="709189" y="766525"/>
            <a:ext cx="11033156" cy="954880"/>
            <a:chOff x="709189" y="2210559"/>
            <a:chExt cx="11033156" cy="9548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BBF373-83B4-BD04-FD07-1C22BC7A5CB8}"/>
                </a:ext>
              </a:extLst>
            </p:cNvPr>
            <p:cNvSpPr txBox="1"/>
            <p:nvPr/>
          </p:nvSpPr>
          <p:spPr>
            <a:xfrm>
              <a:off x="709189" y="2426390"/>
              <a:ext cx="110331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5’-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GATCAGTCCGATATC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TCGACATGCTAGTGC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GCTATCGGATACGTC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ATGACTGCC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                                          3’-</a:t>
              </a:r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TACTGACGG</a:t>
              </a:r>
              <a:endParaRPr lang="ru-RU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Дуга 7">
              <a:extLst>
                <a:ext uri="{FF2B5EF4-FFF2-40B4-BE49-F238E27FC236}">
                  <a16:creationId xmlns:a16="http://schemas.microsoft.com/office/drawing/2014/main" id="{FEAD4E7C-192B-FA1B-A84A-8111BB7D3A71}"/>
                </a:ext>
              </a:extLst>
            </p:cNvPr>
            <p:cNvSpPr/>
            <p:nvPr/>
          </p:nvSpPr>
          <p:spPr>
            <a:xfrm rot="6667851">
              <a:off x="9931835" y="2210559"/>
              <a:ext cx="954880" cy="954880"/>
            </a:xfrm>
            <a:prstGeom prst="arc">
              <a:avLst>
                <a:gd name="adj1" fmla="val 5633151"/>
                <a:gd name="adj2" fmla="val 252669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451D2F-8B12-C717-48AE-04415CD4DB66}"/>
                </a:ext>
              </a:extLst>
            </p:cNvPr>
            <p:cNvSpPr txBox="1"/>
            <p:nvPr/>
          </p:nvSpPr>
          <p:spPr>
            <a:xfrm>
              <a:off x="10691948" y="2503333"/>
              <a:ext cx="62488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US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ru-RU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29807E-B769-72C1-2481-C431B2B6A658}"/>
              </a:ext>
            </a:extLst>
          </p:cNvPr>
          <p:cNvSpPr txBox="1"/>
          <p:nvPr/>
        </p:nvSpPr>
        <p:spPr>
          <a:xfrm>
            <a:off x="5441509" y="496656"/>
            <a:ext cx="1308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Cassette_G</a:t>
            </a:r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41B5D-2DA2-E58E-27A1-B159B6461851}"/>
              </a:ext>
            </a:extLst>
          </p:cNvPr>
          <p:cNvSpPr txBox="1"/>
          <p:nvPr/>
        </p:nvSpPr>
        <p:spPr>
          <a:xfrm>
            <a:off x="5441509" y="2303055"/>
            <a:ext cx="1308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Cassette_OG</a:t>
            </a:r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D5FD2-3617-92BA-7449-4C21847C1E4C}"/>
              </a:ext>
            </a:extLst>
          </p:cNvPr>
          <p:cNvSpPr txBox="1"/>
          <p:nvPr/>
        </p:nvSpPr>
        <p:spPr>
          <a:xfrm>
            <a:off x="5231582" y="3883392"/>
            <a:ext cx="1728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Cassette_5mC_OG</a:t>
            </a:r>
            <a:endParaRPr lang="ru-RU" sz="14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799AA57-14F1-D5F7-90EC-39A6577C53E8}"/>
              </a:ext>
            </a:extLst>
          </p:cNvPr>
          <p:cNvGrpSpPr/>
          <p:nvPr/>
        </p:nvGrpSpPr>
        <p:grpSpPr>
          <a:xfrm>
            <a:off x="709189" y="4185225"/>
            <a:ext cx="11033156" cy="954880"/>
            <a:chOff x="709189" y="2210559"/>
            <a:chExt cx="11033156" cy="95488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FF726E-AC29-7892-424E-1EA201958930}"/>
                </a:ext>
              </a:extLst>
            </p:cNvPr>
            <p:cNvSpPr txBox="1"/>
            <p:nvPr/>
          </p:nvSpPr>
          <p:spPr>
            <a:xfrm>
              <a:off x="709189" y="2426390"/>
              <a:ext cx="110331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5’-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GATCAGTCCGATATC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</a:t>
              </a:r>
              <a:r>
                <a:rPr lang="en-US" sz="1400" b="1" dirty="0" err="1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TCGACATGCTAGTGC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</a:t>
              </a:r>
              <a:r>
                <a:rPr lang="en-US" sz="1400" b="1" dirty="0" err="1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NNNN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GCTATCGGATACGTC</a:t>
              </a:r>
              <a:r>
                <a:rPr lang="ru-RU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ATGACTGCC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                                             3’-</a:t>
              </a:r>
              <a:r>
                <a:rPr lang="en-US" sz="14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TACTGACGG</a:t>
              </a:r>
              <a:endParaRPr lang="ru-RU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Дуга 14">
              <a:extLst>
                <a:ext uri="{FF2B5EF4-FFF2-40B4-BE49-F238E27FC236}">
                  <a16:creationId xmlns:a16="http://schemas.microsoft.com/office/drawing/2014/main" id="{FBE21559-F73B-F28C-65B8-20EE251222D3}"/>
                </a:ext>
              </a:extLst>
            </p:cNvPr>
            <p:cNvSpPr/>
            <p:nvPr/>
          </p:nvSpPr>
          <p:spPr>
            <a:xfrm rot="6667851">
              <a:off x="10097814" y="2210559"/>
              <a:ext cx="954880" cy="954880"/>
            </a:xfrm>
            <a:prstGeom prst="arc">
              <a:avLst>
                <a:gd name="adj1" fmla="val 5633151"/>
                <a:gd name="adj2" fmla="val 252669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825E8D-3D03-5A67-CD24-21AAEEBF1429}"/>
                </a:ext>
              </a:extLst>
            </p:cNvPr>
            <p:cNvSpPr txBox="1"/>
            <p:nvPr/>
          </p:nvSpPr>
          <p:spPr>
            <a:xfrm>
              <a:off x="10857927" y="2503333"/>
              <a:ext cx="62488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US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ru-RU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14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237</Words>
  <Application>Microsoft Office PowerPoint</Application>
  <PresentationFormat>Широкоэкранный</PresentationFormat>
  <Paragraphs>45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Wingdings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Alexander Sergeev</dc:creator>
  <cp:lastModifiedBy>Maria Zvereva</cp:lastModifiedBy>
  <cp:revision>11</cp:revision>
  <dcterms:created xsi:type="dcterms:W3CDTF">2025-09-10T16:10:20Z</dcterms:created>
  <dcterms:modified xsi:type="dcterms:W3CDTF">2025-09-16T10:58:20Z</dcterms:modified>
</cp:coreProperties>
</file>